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SLIDE:capa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SLIDE:missao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SLIDE:cliente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SLIDE:escopo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SLIDE:postos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SLIDE:equipamentos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SLIDE:beneficios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SLIDE:resumo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SLIDE:condicoes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7772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{LOGO}M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960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{EMPRESA_FANTASIA}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417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82F6"/>
                </a:solidFill>
                <a:latin typeface="Segoe UI"/>
              </a:rPr>
              <a:t>{SEGMENTO}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Proposta Comercial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14630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{CLIENTE}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</a:rPr>
              <a:t>{ENDERECO}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B82F6"/>
                </a:solidFill>
                <a:latin typeface="Segoe UI"/>
              </a:rPr>
              <a:t>{NUMERO}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535" y="56692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</a:rPr>
              <a:t>{DATA_EXTENSO}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Missão, visão e valores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29584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4114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MISSÃO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29809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{MISSAO}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463040"/>
            <a:ext cx="3529584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463040"/>
            <a:ext cx="54864" cy="4114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6420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VISÃO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8"/>
            <a:ext cx="29809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{VISAO}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463040"/>
            <a:ext cx="3529584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63040"/>
            <a:ext cx="54864" cy="4114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1" y="166420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VALORES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1" y="2029968"/>
            <a:ext cx="29809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{VALORES}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A quem se destina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CONTRATANTE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{CLIENTE}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CNPJ {CNPJ}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{ENDERECO}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{CIDADE_UF}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285232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4864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664208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RESPONSÁVEL PELO CONTATO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029968"/>
            <a:ext cx="47365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{CONTATO}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{CONTATO_CARGO}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{CONTATO_EMAIL}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{CONTATO_TELEFONE}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548640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4864" cy="1600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78807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CONVENÇÃO COLETIVA APLICADA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544567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{CCT}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{CCT_SINDICATO}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{CCT_VIGENCIA}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977639"/>
            <a:ext cx="5285232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977639"/>
            <a:ext cx="54864" cy="1600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4178807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EMITIDO POR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544567"/>
            <a:ext cx="47365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{EMPRESA_NOME}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CNPJ {EMPRESA_CNPJ}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{EMPRESA_TELEFONE} · {EMPRESA_EMAIL}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Objeto da proposta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500" b="0">
                <a:solidFill>
                  <a:srgbClr val="0F172A"/>
                </a:solidFill>
                <a:latin typeface="Segoe UI"/>
              </a:rPr>
              <a:t>{ESCOPO}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52958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INVESTIMENTO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{VALOR_MENSAL_TOTAL}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4114800"/>
            <a:ext cx="352958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PRAZO CONTRATUAL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4663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{PRAZO} meses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4114800"/>
            <a:ext cx="352958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POSTOS DE TRABALHO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4663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{TOTAL_POSTOS}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Dimensionamento da equipe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Os valores unitários já contemplam salário-base da convenção coletiva, adicionais legais, encargos sociais e trabalhistas ({ENCARGOS}%) e o pacote de benefícios da categoria.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609"/>
                <a:gridCol w="2884547"/>
                <a:gridCol w="2329827"/>
                <a:gridCol w="1996994"/>
                <a:gridCol w="1553218"/>
                <a:gridCol w="155321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QTD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CARGO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ESCALA / TURNO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ADICIONAIS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UNITÁRIO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MENSAL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{QTD}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{CARGO}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{ESCALA_TURNO}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{ADICIONAIS}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{VALOR_UNITARIO}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{VALOR_MENSAL}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TOTAL DE MÃO DE OBRA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{TOTAL_MAO_DE_OBRA}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Equipamentos e recursos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Equipamentos mensais acompanham o valor do contrato; itens de implantação são cobrados uma única vez, na entrada da operação.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609"/>
                <a:gridCol w="2995492"/>
                <a:gridCol w="2440771"/>
                <a:gridCol w="1553218"/>
                <a:gridCol w="1664162"/>
                <a:gridCol w="1664162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QTD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EQUIPAMENTO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MARCA / MODELO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COBRANÇA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UNITÁRIO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TOTAL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{EQ_QTD}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{EQ_NOME}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{EQ_MARCA}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{EQ_TIPO}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{EQ_VALOR}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{EQ_TOTAL}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TOTAL MENSAL DE EQUIPAMENTOS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{TOTAL_EQUIPAMENTOS}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IMPLANTAÇÃO (PAGAMENTO ÚNICO)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{TOTAL_IMPLANTACAO}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Benefícios da convenção coletiva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Valores da {CCT}. Benefícios concedidos na forma da convenção não sofrem encargo previdenciário (arts. 457 §2º e 458 §2º da CLT). O vale-transporte tem desconto legal de até 6% do salário do empregado.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1996994"/>
                <a:gridCol w="1775106"/>
                <a:gridCol w="1775106"/>
                <a:gridCol w="177510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BENEFÍCIO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CHEIO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DESCONTO DO EMPREGADO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CUSTO DA EMPRESA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{BEN_NOME}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{BEN_BASE}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{BEN_VALOR}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{BEN_DESCONTO}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{BEN_CUSTO}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TOTAL DE BENEFÍCIOS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{TOTAL_BENEFICIOS}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Resumo do investimento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9494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652"/>
                <a:gridCol w="2640787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COMPOSIÇÃO DO VALOR MENSAL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Mão de obra ({TOTAL_POSTOS} postos)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{TOTAL_MAO_DE_OBRA}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Equipamentos e recursos mensais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{TOTAL_EQUIPAMENTOS}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Subtotal mensal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{SUBTOTAL_MENSAL}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Desconto comercial ({DESCONTO}%)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− {VALOR_DESCONTO}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VALOR MENSAL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{VALOR_MENSAL_TOTAL}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Todos os valores acima já incluem salários da convenção coletiva, adicionais legais, encargos sociais e trabalhistas, benefícios da categoria, tributos e despesas administrativas. Não há custo adicional fora do que está nesta tabela.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463040"/>
            <a:ext cx="3822191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463040"/>
            <a:ext cx="5486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664208"/>
            <a:ext cx="327355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IMPLANTAÇÃO (PAGAMENTO ÚNICO)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029968"/>
            <a:ext cx="3273551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{VALOR_IMPLANTACAO}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017520"/>
            <a:ext cx="3822191" cy="1737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2918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TOTAL DO CONTRATO ({PRAZO} MESES)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70332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{VALOR_CONTRATO}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92040"/>
            <a:ext cx="382219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Primeiro pagamento: {PRIMEIRO_PAGAMENTO}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Condições comerciais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374903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374903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CONDIÇÕES GERAIS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4937760" cy="3017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Validade da proposta: {VALIDADE} dias, até {VALIDA_ATE}.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Prazo contratual: {PRAZO} meses, renovável automaticamente.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Faturamento: mensal, com vencimento no 5º dia útil do mês seguinte.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Reajuste: anual, pela data-base da categoria ou pelo IPCA acumulado.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Início da operação: até 15 dias corridos após o aceite formal.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Rescisão: mediante aviso prévio de 30 dias por qualquer das partes.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285232" cy="374903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4864" cy="374903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664208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OBSERVAÇÕES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029968"/>
            <a:ext cx="4736592" cy="3017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{OBS}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{EMPRESA_FANTASIA} · {EMPRESA_SITE}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{NUMERO} · página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Vamos trabalhar juntos?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383280"/>
            <a:ext cx="14630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Colocamo-nos à disposição para esclarecimentos e ajustes no escopo.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{EMPRESA_EMAIL}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{EMPRESA_TELEFONE}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{EMPRESA_SITE}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