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6" r:id="rId27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SLIDE:resumo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SLIDE:sobre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SLIDE:gente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SLIDE:missao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SLIDE:servicos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SLIDE:diferencial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SLIDE:tecnologia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SLIDE:equipamentos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SLIDE:beneficios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31520"/>
            <a:ext cx="2286000" cy="82296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8836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{LOGO}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B79CFF"/>
                </a:solidFill>
                <a:latin typeface="Segoe UI"/>
              </a:rPr>
              <a:t>PROPOSTA COMERCIAL · FACILITIES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7863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EEEBF7"/>
                </a:solidFill>
                <a:latin typeface="Segoe UI"/>
              </a:rPr>
              <a:t>PROPOSTA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B79CFF"/>
                </a:solidFill>
                <a:latin typeface="Segoe UI"/>
              </a:rPr>
              <a:t>COMERCIAL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245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4526280"/>
            <a:ext cx="502920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462686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{CLIENTE}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193792"/>
            <a:ext cx="502920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93792"/>
            <a:ext cx="462686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{ENDERECO}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4526280"/>
            <a:ext cx="237744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4526280"/>
            <a:ext cx="197510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{NUMERO}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5193792"/>
            <a:ext cx="237744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5193792"/>
            <a:ext cx="197510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{DATA}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89904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{EMPRESA_FANTASIA}   ·   {EMPRESA_SITE}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Carta de apresentação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03120"/>
            <a:ext cx="457200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1696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Prezado(a) {CONTATO}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61488"/>
            <a:ext cx="67665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>
                <a:solidFill>
                  <a:srgbClr val="EEEBF7"/>
                </a:solidFill>
                <a:latin typeface="Segoe UI"/>
              </a:rPr>
              <a:t>Agradecemos a oportunidade de apresentar nossa proposta comercial para a prestação de serviços terceirizados no(a) {CLIENTE}.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>
                <a:solidFill>
                  <a:srgbClr val="EEEBF7"/>
                </a:solidFill>
                <a:latin typeface="Segoe UI"/>
              </a:rPr>
              <a:t>Nas páginas seguintes você encontrará uma breve apresentação institucional, seguida pelo detalhamento da proposta que elaboramos especialmente para atender às necessidades do seu empreendimento.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>
                <a:solidFill>
                  <a:srgbClr val="EEEBF7"/>
                </a:solidFill>
                <a:latin typeface="Segoe UI"/>
              </a:rPr>
              <a:t>Ficamos à disposição para quaisquer esclarecimentos e esperamos contribuir para a segurança e o bom funcionamento da sua operação.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9CFF"/>
                </a:solidFill>
                <a:latin typeface="Segoe UI"/>
              </a:rPr>
              <a:t>Atenciosamente,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2303" y="2103120"/>
            <a:ext cx="3566160" cy="370332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0591" y="2103120"/>
            <a:ext cx="352958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8063" y="24323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B79CFF"/>
                </a:solidFill>
                <a:latin typeface="Segoe UI"/>
              </a:rPr>
              <a:t>CONTATO COMERCIAL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8063" y="2834640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9231" y="283464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{VENDEDOR}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8063" y="3410712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9231" y="3410712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{VENDEDOR_CARGO}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8063" y="3986784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9231" y="3986784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{EMPRESA_TELEFONE}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8063" y="4562856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9231" y="4562856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{EMPRESA_WHATSAPP}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8063" y="5138928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9231" y="5138928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{EMPRESA_EMAIL}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806440"/>
            <a:ext cx="4206240" cy="41148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380390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{DATA_EXTENSO}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Sumário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48840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214884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Sobre nós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2" y="2148840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Quem somos, nossa estrutura e nossa gente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53512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53512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953512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Missão e valores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953512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O que orienta a nossa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58184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58184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758184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3758184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Nossos serviços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758184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Facilities, portaria, segurança e tecnologia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62856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562856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562856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4562856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Nosso diferencial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562856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Por que somos escolhidos e mantidos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367528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367528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367528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2" y="5367528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Proposta comercial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367528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Cargos, materiais, benefícios e condições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Sobre nós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Estrutura, experiência e as pessoas que sustentam a operação.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01 · SOBRE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Quem somos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62179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>
                <a:solidFill>
                  <a:srgbClr val="EEEBF7"/>
                </a:solidFill>
                <a:latin typeface="Segoe UI"/>
              </a:rPr>
              <a:t>Desde {EMPRESA_ANO}, atuamos na prestação de serviços de facilities e segurança para condomínios residenciais e comerciais, empresas, indústrias e centros comerciais.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>
                <a:solidFill>
                  <a:srgbClr val="EEEBF7"/>
                </a:solidFill>
                <a:latin typeface="Segoe UI"/>
              </a:rPr>
              <a:t>Combinamos mão de obra qualificada, processos auditados e tecnologia para entregar uma operação previsível: escala cumprida, posto coberto e comunicação clara com o cliente.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EEBF7"/>
                </a:solidFill>
                <a:latin typeface="Segoe UI"/>
              </a:rPr>
              <a:t>Nossa equipe se destaca pela diversidade, pela ética e pelo compromisso com a excelência no atendimento.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7983" y="2148840"/>
            <a:ext cx="3840480" cy="1170432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3743" y="2350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6FF"/>
                </a:solidFill>
                <a:latin typeface="Segoe UI"/>
              </a:rPr>
              <a:t>{EMPRESA_ANO}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3743" y="28620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de fundação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7983" y="3429000"/>
            <a:ext cx="3840480" cy="1170432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3743" y="36301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6FF"/>
                </a:solidFill>
                <a:latin typeface="Segoe UI"/>
              </a:rPr>
              <a:t>{EMPRESA_COLABORADORES}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3743" y="41422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colaboradores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7983" y="4709160"/>
            <a:ext cx="3840480" cy="1170432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3743" y="491032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6FF"/>
                </a:solidFill>
                <a:latin typeface="Segoe UI"/>
              </a:rPr>
              <a:t>{EMPRESA_CLIENTES}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3743" y="54223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clientes atendidos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937760"/>
            <a:ext cx="6217920" cy="960120"/>
          </a:xfrm>
          <a:prstGeom prst="roundRect">
            <a:avLst>
              <a:gd name="adj" fmla="val 5500"/>
            </a:avLst>
          </a:prstGeom>
          <a:solidFill>
            <a:srgbClr val="191826">
              <a:alpha val="70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937760"/>
            <a:ext cx="5577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EEBF7"/>
                </a:solidFill>
                <a:latin typeface="Segoe UI"/>
              </a:rPr>
              <a:t>Certificações e filiações: {EMPRESA_CERTIFICACOES}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01 · SOBRE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Nossa 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A qualidade do serviço começa na forma como tratamos quem o executa. Solte a foto real de cada colaborador sobre as molduras.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3534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98063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2957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3534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3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2957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Porteiro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5022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9552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4446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21024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5022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59552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4446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Recepcionista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2512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66510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15934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82512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66510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15934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Bombeiro civil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7696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27998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82528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377422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27998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82528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77422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97696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7696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Zelador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Carreira de verdade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Boa parte da nossa liderança começou em cargos operacionais.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Diversidade e inclusão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Equipes plurais em todos os níveis, com política ativa de inclusão.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Treinamento contínuo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Capacitação inicial e reciclagem periódica, com registro individual.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97696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Baixa rotatividade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Benefícios e reconhecimento que premiam assiduidade e conduta.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Missão e valores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O que orienta cada decisão da nossa operação.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02 · MISSÃO E VALORES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Missão, visão e valores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5312664" cy="1755648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C9A6FF"/>
                </a:solidFill>
                <a:latin typeface="Segoe UI"/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EEBF7"/>
                </a:solidFill>
                <a:latin typeface="Segoe UI"/>
              </a:rPr>
              <a:t>{MISSAO}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069080"/>
            <a:ext cx="53126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525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B79CFF"/>
                </a:solidFill>
                <a:latin typeface="Segoe UI"/>
              </a:rPr>
              <a:t>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3659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E99B8"/>
                </a:solidFill>
                <a:latin typeface="Segoe UI"/>
              </a:rPr>
              <a:t>{VISAO}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48840"/>
            <a:ext cx="5312664" cy="3675887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32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B79CFF"/>
                </a:solidFill>
                <a:latin typeface="Segoe UI"/>
              </a:rPr>
              <a:t>VALORES</a:t>
            </a:r>
          </a:p>
        </p:txBody>
      </p:sp>
      <p:sp>
        <p:nvSpPr>
          <p:cNvPr id="14" name="Oval 13"/>
          <p:cNvSpPr/>
          <p:nvPr/>
        </p:nvSpPr>
        <p:spPr>
          <a:xfrm>
            <a:off x="6565392" y="293522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287121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Foco no cliente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348386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41985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Ética e transparência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403250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396849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Espírito coletivo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458114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451713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Respeito interpessoal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512978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50657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Meritocracia</a:t>
            </a:r>
          </a:p>
        </p:txBody>
      </p:sp>
      <p:sp>
        <p:nvSpPr>
          <p:cNvPr id="24" name="Oval 23"/>
          <p:cNvSpPr/>
          <p:nvPr/>
        </p:nvSpPr>
        <p:spPr>
          <a:xfrm>
            <a:off x="8942832" y="293522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287121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Inovação e qualidade</a:t>
            </a:r>
          </a:p>
        </p:txBody>
      </p:sp>
      <p:sp>
        <p:nvSpPr>
          <p:cNvPr id="26" name="Oval 25"/>
          <p:cNvSpPr/>
          <p:nvPr/>
        </p:nvSpPr>
        <p:spPr>
          <a:xfrm>
            <a:off x="8942832" y="348386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341985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Disciplina e senso de urgência</a:t>
            </a:r>
          </a:p>
        </p:txBody>
      </p:sp>
      <p:sp>
        <p:nvSpPr>
          <p:cNvPr id="28" name="Oval 27"/>
          <p:cNvSpPr/>
          <p:nvPr/>
        </p:nvSpPr>
        <p:spPr>
          <a:xfrm>
            <a:off x="8942832" y="403250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396849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Capacitação contínua</a:t>
            </a:r>
          </a:p>
        </p:txBody>
      </p:sp>
      <p:sp>
        <p:nvSpPr>
          <p:cNvPr id="30" name="Oval 29"/>
          <p:cNvSpPr/>
          <p:nvPr/>
        </p:nvSpPr>
        <p:spPr>
          <a:xfrm>
            <a:off x="8942832" y="458114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451713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Eficiência e austeridade</a:t>
            </a:r>
          </a:p>
        </p:txBody>
      </p:sp>
      <p:sp>
        <p:nvSpPr>
          <p:cNvPr id="32" name="Oval 31"/>
          <p:cNvSpPr/>
          <p:nvPr/>
        </p:nvSpPr>
        <p:spPr>
          <a:xfrm>
            <a:off x="8942832" y="512978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7152" y="50657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Sustentabilidade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Nossos serviços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Um único fornecedor para a operação inteira do seu empreendimento.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03 · NOSSOS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O que entregamos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Serviços prestados de forma integrada, com gestão e supervisão próprias.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12848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542032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50545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Mão de obra de facilities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Portaria, recepção, zeladoria, limpeza e conservação, auxiliar de manutenção, bombeiro civil, manobrista e apoio operacional.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212848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5392" y="2542032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250545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Portaria remota e híbrida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0175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Controle de acesso de moradores, visitantes e prestadores por central de monitoramento, com redução de custo e protocolo rígido.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0520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4489704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9616" y="44531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Segurança patrimonial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6519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Vigilância, rondas, controle de acesso e protocolos de emergência conduzidos por equipe treinada e supervisionada.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160520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4489704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44531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Segurança eletrônica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96519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Projeto e implantação de CFTV, controle de acesso, alarmes, automação de portões e link de comunicação.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Nosso diferencial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Por que os clientes escolhem — e permanecem.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04 · NOSSO 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O que nos separa do mercado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12848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12848"/>
            <a:ext cx="50292" cy="17556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52374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Retenção de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980944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Perda média de clientes muito abaixo do praticado no setor de terceirização.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212848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2212848"/>
            <a:ext cx="50292" cy="1755648"/>
          </a:xfrm>
          <a:prstGeom prst="rect">
            <a:avLst/>
          </a:prstGeom>
          <a:solidFill>
            <a:srgbClr val="C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52374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Baixo absenteísmo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980944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Índice de faltas e rotatividade controlados — posto coberto, escala cumprida.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12848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2212848"/>
            <a:ext cx="50292" cy="17556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52374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Supervisão presente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980944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Coordenação de campo com visitas programadas e canal direto com o cliente.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33087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33087"/>
            <a:ext cx="50292" cy="1755648"/>
          </a:xfrm>
          <a:prstGeom prst="rect">
            <a:avLst/>
          </a:prstGeom>
          <a:solidFill>
            <a:srgbClr val="C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443983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Pós-venda 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901183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A operação ajusta processo e equipe sempre que necessário, sem esperar reclamação.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4133087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8264" y="4133087"/>
            <a:ext cx="50292" cy="17556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4443983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Tecnologia aplicada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901183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Controle de ponto, ronda, ocorrência e comunicação integrados.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133087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4133087"/>
            <a:ext cx="50292" cy="1755648"/>
          </a:xfrm>
          <a:prstGeom prst="rect">
            <a:avLst/>
          </a:prstGeom>
          <a:solidFill>
            <a:srgbClr val="C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443983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Segurança jurídica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901183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Encargos recolhidos, documentação em dia e defesa do cliente em eventual ação.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04 · NOSSO 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Tecnologia na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Ferramentas que dão previsibilidade ao serviço e visibilidade ao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12848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Controle de ponto e presença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212848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Registro eletrônico por posto, com alerta de falta e cobertura imediata.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236976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36976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36976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Aplicativo de portaria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36976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Pré-autorização de visitantes, registro de entrega e histórico de acesso.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261104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61104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61104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Ronda e ocorrência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261104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Roteiro conferido, ocorrência registrada com foto e horário.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285232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85232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85232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Treinamento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5285232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Capacitação por função no celular do colaborador, com registro individual.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Proposta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Escopo, quadro de cargos, materiais e condições gerais.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Escopo do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{ESCOPO}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1284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2212848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212848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{CLIENTE}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163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ENDEREÇO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816352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816352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{ENDERECO}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1985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RESPONSÁVEL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3419856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419856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{CONTATO}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23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CONTATO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6352" y="4023360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023360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{CONTATO_TELEFONE}   ·   {CONTATO_EMAIL}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Nº DA 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{NUMERO}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DATA DE EMISSÃO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{DATA}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VALIDADE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{VALIDADE} dias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0304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PRAZO DE IMPLANTAÇÃO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{PRAZO} dias corridos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Quadro de cargos e postos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2488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960120"/>
                <a:gridCol w="4727448"/>
                <a:gridCol w="2057400"/>
                <a:gridCol w="205740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QTD. POSTOS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QTD. FUNC.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CARGO  ·  ESCALA  ·  JORNADA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VALOR UNITÁRIO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VALOR MENSAL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{QTD}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{QTD_FUNC}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{CARGO}  ·  {ESCALA_TURNO}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{VALOR_UNITARIO}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{VALOR_MENSAL}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>VALOR TOTAL MENSAL DA PROPOSTA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>{VALOR_MENSAL_TOTAL}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85216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Inclusos todos os impostos e encargos trabalhistas.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Materiais, equipamentos e uniformes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2488" cy="3913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680"/>
                <a:gridCol w="4517136"/>
                <a:gridCol w="868680"/>
                <a:gridCol w="4507992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QTD.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MATERIAL / EQUIPAMENTO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VALOR TOTAL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{EQ_QTD}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{EQ_NOME}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{EQ_TIPO}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>{EQ_TOTAL}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>VALOR TOTAL DE MATERIAIS E EQUIPAMENTOS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9A6FF"/>
                          </a:solidFill>
                          <a:latin typeface="Segoe UI"/>
                        </a:rPr>
                        <a:t>{TOTAL_EQUIPAMENTOS}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89788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Equipamentos e produtos de limpeza não descritos nesta relação serão fornecidos pelo cliente.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Salários e benefícios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Composição por cargo, conforme convenção coletiva vigente.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331720"/>
          <a:ext cx="10762488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298448"/>
                <a:gridCol w="1298448"/>
                <a:gridCol w="1298448"/>
                <a:gridCol w="1298448"/>
                <a:gridCol w="1664208"/>
                <a:gridCol w="1435608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CARGO / FUNÇÃO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SALÁRIO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ADICIONAIS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VALE-REFEIÇÃO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CESTA BÁSICA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ASSIST. MÉDICA / ODONTO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SINDICATO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>{SAL_CARGO}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>{SAL_SALARIO}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>{SAL_ADICIONAIS}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>{SAL_REFEICAO}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>{SAL_CESTA}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>{SAL_SAUDE}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>{SAL_SINDICATO}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76072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Valores conforme {CCT} · vigência {CCT_VIGENCIA}. A proposta vale {VALIDADE} dias e está sujeita a alteração após visita técnica do nosso departamento operacional.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Condições gerais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PRAZO DE IMPLANTAÇÃO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Visita técnica ao posto, recrutamento, checagem de segurança, admissão e treinamento: ao menos {PRAZO} dias corridos.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CONTRATO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O início do posto ocorre somente após a assinatura do contrato, o que assegura respaldo jurídico às duas partes.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FORMALIZAÇÃO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Serviços formalizados por nota fiscal, com envio regular das guias e comprovantes de recolhimento das obrigações legais.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PROCESSO TRABALHISTA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Em eventual ação movida por colaborador contra o cliente, adotamos as medidas cabíveis para excluí-lo já na primeira audiência.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INFRAESTRUTURA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Cabe ao cliente disponibilizar local para refeição, banheiro, água potável, vestiário e, na portaria, cadeira e ponto de trabalho.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REAJUSTE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Os valores são reajustados conforme a convenção coletiva da categoria.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92463" y="731520"/>
            <a:ext cx="2286000" cy="82296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3631" y="731520"/>
            <a:ext cx="18836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{LOGO}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B79CFF"/>
                </a:solidFill>
                <a:latin typeface="Segoe UI"/>
              </a:rPr>
              <a:t>OBRIGADO PELA OPORTUNIDADE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7863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EEBF7"/>
                </a:solidFill>
                <a:latin typeface="Segoe UI"/>
              </a:rPr>
              <a:t>VAMOS TRABALHAR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B79CFF"/>
                </a:solidFill>
                <a:latin typeface="Segoe UI"/>
              </a:rPr>
              <a:t>JUNTOS?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320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977639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Estamos à disposição para esclarecer qualquer ponto desta proposta.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572000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{VENDEDOR}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8464" y="4572000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4572000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{EMPRESA_EMAIL}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285232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{EMPRESA_TELEFONE}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8464" y="5285232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5285232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{EMPRESA_SITE}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   ·   CONTRATO DE {PRAZO} MESES   ·   TOTAL {VALOR_CONTRATO}   ·   1º PAGAMENTO {PRIMEIRO_PAGAMENTO}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Resumo do investimento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MÃO DE OBRA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{TOTAL_MAO_DE_OBRA}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MATERIAIS E EQUIPAMENTOS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{TOTAL_EQUIPAMENTOS}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SUBTOTAL MENSAL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{SUBTOTAL_MENSAL}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DESCONTO ({DESCONTO}%)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− {VALOR_DESCONTO}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VALOR MENSAL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{VALOR_MENSAL_TOTAL}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IMPLANTAÇÃO (única)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{VALOR_IMPLANTACAO}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{EMPRESA_FANTASIA}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{PAGINA}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