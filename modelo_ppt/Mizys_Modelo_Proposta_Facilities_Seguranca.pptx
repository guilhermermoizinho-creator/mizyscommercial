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31520"/>
            <a:ext cx="2286000" cy="82296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8836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SUA LOGO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B79CFF"/>
                </a:solidFill>
                <a:latin typeface="Segoe UI"/>
              </a:rPr>
              <a:t>PROPOSTA COMERCIAL · FACILITIES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7863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EEEBF7"/>
                </a:solidFill>
                <a:latin typeface="Segoe UI"/>
              </a:rPr>
              <a:t>PROPOSTA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B79CFF"/>
                </a:solidFill>
                <a:latin typeface="Segoe UI"/>
              </a:rPr>
              <a:t>COMERCIAL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245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4526280"/>
            <a:ext cx="502920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462686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NOME DO CLIENTE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193792"/>
            <a:ext cx="502920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462686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ENDEREÇO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4526280"/>
            <a:ext cx="237744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4526280"/>
            <a:ext cx="19751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Nº PROPOSTA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5193792"/>
            <a:ext cx="2377440" cy="585216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5193792"/>
            <a:ext cx="19751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DATA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89904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[SUA EMPRESA]   ·   [ SITE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Carta de apresentação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03120"/>
            <a:ext cx="457200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1696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[ PREZADO(A) SR(A). NOME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67665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>
                <a:solidFill>
                  <a:srgbClr val="EEEBF7"/>
                </a:solidFill>
                <a:latin typeface="Segoe UI"/>
              </a:rPr>
              <a:t>Agradecemos a oportunidade de apresentar nossa proposta comercial para a prestação de serviços terceirizados no(a) [ NOME DO CLIENTE ].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>
                <a:solidFill>
                  <a:srgbClr val="EEEBF7"/>
                </a:solidFill>
                <a:latin typeface="Segoe UI"/>
              </a:rPr>
              <a:t>Nas páginas seguintes você encontrará uma breve apresentação institucional, seguida pelo detalhamento da proposta que elaboramos especialmente para atender às necessidades do seu empreendimento.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>
                <a:solidFill>
                  <a:srgbClr val="EEEBF7"/>
                </a:solidFill>
                <a:latin typeface="Segoe UI"/>
              </a:rPr>
              <a:t>Ficamos à disposição para quaisquer esclarecimentos e esperamos contribuir para a segurança e o bom funcionamento da sua operação.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9CFF"/>
                </a:solidFill>
                <a:latin typeface="Segoe UI"/>
              </a:rPr>
              <a:t>Atenciosamente,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2303" y="2103120"/>
            <a:ext cx="3566160" cy="370332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0591" y="2103120"/>
            <a:ext cx="352958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8063" y="24323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B79CFF"/>
                </a:solidFill>
                <a:latin typeface="Segoe UI"/>
              </a:rPr>
              <a:t>CONTATO COMERCIAL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8063" y="2834640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9231" y="283464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[ NOME DO CONSULTOR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8063" y="3410712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9231" y="3410712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[ CARGO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8063" y="3986784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9231" y="3986784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[ TELEFONE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8063" y="4562856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9231" y="4562856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[ CELULAR / WHATSAPP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8063" y="5138928"/>
            <a:ext cx="2834640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9231" y="5138928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[ E-MAIL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806440"/>
            <a:ext cx="4206240" cy="41148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380390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A8A"/>
                </a:solidFill>
                <a:latin typeface="Segoe UI"/>
              </a:rPr>
              <a:t>[ CIDADE, DATA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Sumário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48840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214884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Sobre nós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2148840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Quem somos, nossa estrutura e nossa gente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53512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53512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953512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Missão e valores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953512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O que orienta a nossa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58184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58184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758184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3758184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Nossos serviços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758184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Facilities, portaria, segurança e tecnologia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62856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62856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562856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4562856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Nosso diferencial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562856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Por que somos escolhidos e mantidos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367528"/>
            <a:ext cx="10765231" cy="713232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367528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367528"/>
            <a:ext cx="8229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79CFF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2" y="5367528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EBF7"/>
                </a:solidFill>
                <a:latin typeface="Segoe UI"/>
              </a:rPr>
              <a:t>Proposta comercial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367528"/>
            <a:ext cx="5553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Cargos, materiais, benefícios e condições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Sobre nós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Estrutura, experiência e as pessoas que sustentam a operação.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01 · SOBRE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Quem somos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62179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>
                <a:solidFill>
                  <a:srgbClr val="EEEBF7"/>
                </a:solidFill>
                <a:latin typeface="Segoe UI"/>
              </a:rPr>
              <a:t>Desde [ ANO ], atuamos na prestação de serviços de facilities e segurança para condomínios residenciais e comerciais, empresas, indústrias e centros comerciais.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>
                <a:solidFill>
                  <a:srgbClr val="EEEBF7"/>
                </a:solidFill>
                <a:latin typeface="Segoe UI"/>
              </a:rPr>
              <a:t>Combinamos mão de obra qualificada, processos auditados e tecnologia para entregar uma operação previsível: escala cumprida, posto coberto e comunicação clara com o cliente.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EEBF7"/>
                </a:solidFill>
                <a:latin typeface="Segoe UI"/>
              </a:rPr>
              <a:t>Nossa equipe se destaca pela diversidade, pela ética e pelo compromisso com a excelência no atendimento.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7983" y="2148840"/>
            <a:ext cx="3840480" cy="1170432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3743" y="2350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6FF"/>
                </a:solidFill>
                <a:latin typeface="Segoe UI"/>
              </a:rPr>
              <a:t>[ ANO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3743" y="2862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de fundação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7983" y="3429000"/>
            <a:ext cx="3840480" cy="1170432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3743" y="36301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6FF"/>
                </a:solidFill>
                <a:latin typeface="Segoe UI"/>
              </a:rPr>
              <a:t>[ Nº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3743" y="4142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colaboradores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7983" y="4709160"/>
            <a:ext cx="3840480" cy="1170432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3743" y="491032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6FF"/>
                </a:solidFill>
                <a:latin typeface="Segoe UI"/>
              </a:rPr>
              <a:t>[ Nº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3743" y="54223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clientes atendidos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937760"/>
            <a:ext cx="6217920" cy="960120"/>
          </a:xfrm>
          <a:prstGeom prst="roundRect">
            <a:avLst>
              <a:gd name="adj" fmla="val 5500"/>
            </a:avLst>
          </a:prstGeom>
          <a:solidFill>
            <a:srgbClr val="191826">
              <a:alpha val="70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937760"/>
            <a:ext cx="5577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EEBF7"/>
                </a:solidFill>
                <a:latin typeface="Segoe UI"/>
              </a:rPr>
              <a:t>Certificações e filiações: [ LISTAR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01 · SOBRE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Nossa 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A qualidade do serviço começa na forma como tratamos quem o executa. Solte a foto real de cada colaborador sobre as molduras.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3534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98063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2957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534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3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2957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>[ FOTO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Porteiro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1024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5022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9552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4446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21024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5022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59552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4446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>[ FOTO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Recepcionista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2512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66510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15934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82512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6510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15934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>[ FOTO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Bombeiro civil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7696" y="2286000"/>
            <a:ext cx="2542032" cy="2514600"/>
          </a:xfrm>
          <a:prstGeom prst="roundRect">
            <a:avLst>
              <a:gd name="adj" fmla="val 5000"/>
            </a:avLst>
          </a:prstGeom>
          <a:solidFill>
            <a:srgbClr val="0D0C16">
              <a:alpha val="88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27998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82528" y="2416302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377422" y="2432304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27998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82528" y="4638294"/>
            <a:ext cx="310896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77422" y="4343400"/>
            <a:ext cx="32004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97696" y="3232404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F6A8A"/>
                </a:solidFill>
                <a:latin typeface="Segoe UI"/>
              </a:rPr>
              <a:t>[ FOTO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7696" y="352501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99B8"/>
                </a:solidFill>
                <a:latin typeface="Segoe UI"/>
              </a:rPr>
              <a:t>Zelador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Carreira de verdade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Boa parte da nossa liderança começou em cargos operacionais.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Diversidade e inclusão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Equipes plurais em todos os níveis, com política ativa de inclusão.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Treinamento contínuo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Capacitação inicial e reciclagem periódica, com registro individual.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7696" y="4983480"/>
            <a:ext cx="2542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EEBF7"/>
                </a:solidFill>
                <a:latin typeface="Segoe UI"/>
              </a:rPr>
              <a:t>Baixa rotatividade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9B8"/>
                </a:solidFill>
                <a:latin typeface="Segoe UI"/>
              </a:rPr>
              <a:t>Benefícios e reconhecimento que premiam assiduidade e conduta.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Missão e valores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O que orienta cada decisão da nossa operação.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02 · MISSÃO E VALORES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Missão, visão e valores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5312664" cy="1755648"/>
          </a:xfrm>
          <a:prstGeom prst="roundRect">
            <a:avLst>
              <a:gd name="adj" fmla="val 5500"/>
            </a:avLst>
          </a:prstGeom>
          <a:solidFill>
            <a:srgbClr val="6D28D9">
              <a:alpha val="26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C9A6FF"/>
                </a:solidFill>
                <a:latin typeface="Segoe UI"/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EEBF7"/>
                </a:solidFill>
                <a:latin typeface="Segoe UI"/>
              </a:rPr>
              <a:t>Tornar ambientes e rotinas mais seguros, agradáveis e eficientes, para que as pessoas possam viver e trabalhar com mais qualidade.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069080"/>
            <a:ext cx="53126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52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B79CFF"/>
                </a:solidFill>
                <a:latin typeface="Segoe UI"/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365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E99B8"/>
                </a:solidFill>
                <a:latin typeface="Segoe UI"/>
              </a:rPr>
              <a:t>Buscar continuamente a excelência na capacitação das equipes, na gestão de processos e no uso de novas tecnologias.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48840"/>
            <a:ext cx="5312664" cy="3675887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32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B79CFF"/>
                </a:solidFill>
                <a:latin typeface="Segoe UI"/>
              </a:rPr>
              <a:t>VALORES</a:t>
            </a:r>
          </a:p>
        </p:txBody>
      </p:sp>
      <p:sp>
        <p:nvSpPr>
          <p:cNvPr id="14" name="Oval 13"/>
          <p:cNvSpPr/>
          <p:nvPr/>
        </p:nvSpPr>
        <p:spPr>
          <a:xfrm>
            <a:off x="6565392" y="293522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287121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Foco no cliente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48386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41985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Ética e transparência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3250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39684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Espírito coletivo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58114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51713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Respeito interpessoal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512978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50657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Meritocracia</a:t>
            </a:r>
          </a:p>
        </p:txBody>
      </p:sp>
      <p:sp>
        <p:nvSpPr>
          <p:cNvPr id="24" name="Oval 23"/>
          <p:cNvSpPr/>
          <p:nvPr/>
        </p:nvSpPr>
        <p:spPr>
          <a:xfrm>
            <a:off x="8942832" y="293522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87121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Inovação e qualidade</a:t>
            </a:r>
          </a:p>
        </p:txBody>
      </p:sp>
      <p:sp>
        <p:nvSpPr>
          <p:cNvPr id="26" name="Oval 25"/>
          <p:cNvSpPr/>
          <p:nvPr/>
        </p:nvSpPr>
        <p:spPr>
          <a:xfrm>
            <a:off x="8942832" y="348386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341985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Disciplina e senso de urgência</a:t>
            </a:r>
          </a:p>
        </p:txBody>
      </p:sp>
      <p:sp>
        <p:nvSpPr>
          <p:cNvPr id="28" name="Oval 27"/>
          <p:cNvSpPr/>
          <p:nvPr/>
        </p:nvSpPr>
        <p:spPr>
          <a:xfrm>
            <a:off x="8942832" y="403250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39684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Capacitação contínua</a:t>
            </a:r>
          </a:p>
        </p:txBody>
      </p:sp>
      <p:sp>
        <p:nvSpPr>
          <p:cNvPr id="30" name="Oval 29"/>
          <p:cNvSpPr/>
          <p:nvPr/>
        </p:nvSpPr>
        <p:spPr>
          <a:xfrm>
            <a:off x="8942832" y="458114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451713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Eficiência e austeridade</a:t>
            </a:r>
          </a:p>
        </p:txBody>
      </p:sp>
      <p:sp>
        <p:nvSpPr>
          <p:cNvPr id="32" name="Oval 31"/>
          <p:cNvSpPr/>
          <p:nvPr/>
        </p:nvSpPr>
        <p:spPr>
          <a:xfrm>
            <a:off x="8942832" y="512978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7152" y="50657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Sustentabilidade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Nossos 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Um único fornecedor para a operação inteira do seu empreendimento.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03 · NOSSOS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O que entregamos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Serviços prestados de forma integrada, com gestão e supervisão próprias.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12848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542032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50545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Mão de obra de facilities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Portaria, recepção, zeladoria, limpeza e conservação, auxiliar de manutenção, bombeiro civil, manobrista e apoio operacional.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212848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2542032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50545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Portaria remota e híbrida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0175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Controle de acesso de moradores, visitantes e prestadores por central de monitoramento, com redução de custo e protocolo rígido.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0520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4489704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9616" y="44531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Segurança patrimonial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651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Vigilância, rondas, controle de acesso e protocolos de emergência conduzidos por equipe treinada e supervisionada.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160520"/>
            <a:ext cx="53126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4489704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44531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EEBF7"/>
                </a:solidFill>
                <a:latin typeface="Segoe UI"/>
              </a:rPr>
              <a:t>Segurança eletrônica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9651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Projeto e implantação de CFTV, controle de acesso, alarmes, automação de portões e link de comunicação.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Nosso diferencial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Por que os clientes escolhem — e permanecem.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04 · NOSSO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O que nos separa do mercado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12848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12848"/>
            <a:ext cx="50292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2374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Retenção de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80944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Perda média de clientes muito abaixo do praticado no setor de terceirização.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212848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2212848"/>
            <a:ext cx="50292" cy="1755648"/>
          </a:xfrm>
          <a:prstGeom prst="rect">
            <a:avLst/>
          </a:prstGeom>
          <a:solidFill>
            <a:srgbClr val="C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52374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Baixo absenteísmo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980944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Índice de faltas e rotatividade controlados — posto coberto, escala cumprida.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12848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2212848"/>
            <a:ext cx="50292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52374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Supervisão presente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980944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Coordenação de campo com visitas programadas e canal direto com o cliente.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33087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33087"/>
            <a:ext cx="50292" cy="1755648"/>
          </a:xfrm>
          <a:prstGeom prst="rect">
            <a:avLst/>
          </a:prstGeom>
          <a:solidFill>
            <a:srgbClr val="C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443983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Pós-venda 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9011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A operação ajusta processo e equipe sempre que necessário, sem esperar reclamação.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133087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8264" y="4133087"/>
            <a:ext cx="50292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4443983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Tecnologia aplicada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9011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Controle de ponto, ronda, ocorrência e comunicação integrados.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133087"/>
            <a:ext cx="3483864" cy="1755648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4133087"/>
            <a:ext cx="50292" cy="1755648"/>
          </a:xfrm>
          <a:prstGeom prst="rect">
            <a:avLst/>
          </a:prstGeom>
          <a:solidFill>
            <a:srgbClr val="C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443983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Segurança jurídica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9011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99B8"/>
                </a:solidFill>
                <a:latin typeface="Segoe UI"/>
              </a:rPr>
              <a:t>Encargos recolhidos, documentação em dia e defesa do cliente em eventual ação.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04 · NOSSO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Tecnologia na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Ferramentas que dão previsibilidade ao serviço e visibilidade ao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12848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Controle de ponto e presença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212848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Registro eletrônico por posto, com alerta de falta e cobertura imediata.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236976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36976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3697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Aplicativo de portaria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36976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Pré-autorização de visitantes, registro de entrega e histórico de acesso.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261104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61104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61104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Ronda e ocorrência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261104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Roteiro conferido, ocorrência registrada com foto e horário.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285232"/>
            <a:ext cx="10765231" cy="914400"/>
          </a:xfrm>
          <a:prstGeom prst="roundRect">
            <a:avLst>
              <a:gd name="adj" fmla="val 5500"/>
            </a:avLst>
          </a:prstGeom>
          <a:solidFill>
            <a:srgbClr val="12111C">
              <a:alpha val="94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85232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2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EEBF7"/>
                </a:solidFill>
                <a:latin typeface="Segoe UI"/>
              </a:rPr>
              <a:t>Treinamento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5285232"/>
            <a:ext cx="64675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99B8"/>
                </a:solidFill>
                <a:latin typeface="Segoe UI"/>
              </a:rPr>
              <a:t>Capacitação por função no celular do colaborador, com registro individual.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031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2E284A"/>
                </a:solidFill>
                <a:latin typeface="Segoe U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310128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6118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EBF7"/>
                </a:solidFill>
                <a:latin typeface="Segoe UI"/>
              </a:rPr>
              <a:t>Proposta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Escopo, quadro de cargos, materiais e condições gerais.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Escopo do atendimento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Preenchimento automático a partir do cadastro da proposta.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1284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2212848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212848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[ RAZÃO SOCIAL / NOME DO CONDOMÍNIO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163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ENDEREÇO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816352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816352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[ LOGRADOURO, NÚMERO — BAIRRO, CIDADE/UF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1985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RESPONSÁVEL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419856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419856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[ NOME DO CONTATO NO CLIENTE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23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B79CFF"/>
                </a:solidFill>
                <a:latin typeface="Segoe UI"/>
              </a:rPr>
              <a:t>CONTATO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4023360"/>
            <a:ext cx="8662111" cy="45720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023360"/>
            <a:ext cx="8259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[ TELEFONE ]   ·   [ E-MAIL 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Nº DA 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[ Nº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DATA DE EMISSÃO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[ DATA 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VALIDADE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30 dias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4773168"/>
            <a:ext cx="2542032" cy="10972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B79CFF"/>
                </a:solidFill>
                <a:latin typeface="Segoe UI"/>
              </a:rPr>
              <a:t>PRAZO DE IMPLANTAÇÃO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EBF7"/>
                </a:solidFill>
                <a:latin typeface="Segoe UI"/>
              </a:rPr>
              <a:t>20 dias corridos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Quadro de cargos e postos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2488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960120"/>
                <a:gridCol w="4727448"/>
                <a:gridCol w="2057400"/>
                <a:gridCol w="205740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 POSTOS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 FUNC.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CARGO  ·  ESCALA  ·  JORNADA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VALOR UNITÁRIO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VALOR MENSAL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>VALOR TOTAL MENSAL DA PROPOSTA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85216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Inclusos todos os impostos e encargos trabalhistas.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Materiais, equipamentos e uniformes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2488" cy="3913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680"/>
                <a:gridCol w="4517136"/>
                <a:gridCol w="868680"/>
                <a:gridCol w="4507992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MATERIAL / EQUIPAMENTO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QTD.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EBF7"/>
                          </a:solidFill>
                          <a:latin typeface="Segoe UI"/>
                        </a:rPr>
                        <a:t>MATERIAL / EQUIPAMENTO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C9A6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C9A6FF"/>
                          </a:solidFill>
                          <a:latin typeface="Segoe UI"/>
                        </a:rPr>
                        <a:t>VALOR TOTAL DE MATERIAIS E EQUIPAMENTOS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B16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89788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Equipamentos e produtos de limpeza não descritos nesta relação serão fornecidos pelo cliente.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Salários e benefícios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90427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99B8"/>
                </a:solidFill>
                <a:latin typeface="Segoe UI"/>
              </a:rPr>
              <a:t>Composição por cargo, conforme convenção coletiva vigente.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331720"/>
          <a:ext cx="10762488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298448"/>
                <a:gridCol w="1298448"/>
                <a:gridCol w="1298448"/>
                <a:gridCol w="1298448"/>
                <a:gridCol w="1664208"/>
                <a:gridCol w="1435608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CARGO / FUNÇÃO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SALÁRIO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ADICIONAIS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VALE-REFEIÇÃO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CESTA BÁSICA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ASSIST. MÉDICA / ODONTO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EEEBF7"/>
                          </a:solidFill>
                          <a:latin typeface="Segoe UI"/>
                        </a:rPr>
                        <a:t>SINDICATO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918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1211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EEBF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242235"/>
                      </a:solidFill>
                    </a:lnL>
                    <a:lnR w="9525" cap="flat" cmpd="sng" algn="ctr">
                      <a:solidFill>
                        <a:srgbClr val="242235"/>
                      </a:solidFill>
                    </a:lnR>
                    <a:lnT w="9525" cap="flat" cmpd="sng" algn="ctr">
                      <a:solidFill>
                        <a:srgbClr val="242235"/>
                      </a:solidFill>
                    </a:lnT>
                    <a:lnB w="9525" cap="flat" cmpd="sng" algn="ctr">
                      <a:solidFill>
                        <a:srgbClr val="242235"/>
                      </a:solidFill>
                    </a:lnB>
                    <a:solidFill>
                      <a:srgbClr val="0F0E1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760720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F6A8A"/>
                </a:solidFill>
                <a:latin typeface="Segoe UI"/>
              </a:rPr>
              <a:t>Valores referentes a [ ANO ]. A proposta tem validade de 30 dias e está sujeita a alteração após visita técnica do nosso departamento operacional.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232" y="201167"/>
            <a:ext cx="5303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59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40">
                <a:solidFill>
                  <a:srgbClr val="B79CFF"/>
                </a:solidFill>
                <a:latin typeface="Segoe UI"/>
              </a:rPr>
              <a:t>05 · 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EEBF7"/>
                </a:solidFill>
                <a:latin typeface="Segoe UI"/>
              </a:rPr>
              <a:t>Condições gerais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PRAZO DE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Visita técnica ao posto, recrutamento, checagem de segurança, admissão e treinamento: ao menos 20 dias corridos.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CONTRATO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O início do posto ocorre somente após a assinatura do contrato, o que assegura respaldo jurídico às duas partes.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48840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4414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FORMALIZAÇÃO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825496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Serviços formalizados por nota fiscal, com envio regular das guias e comprovantes de recolhimento das obrigações legais.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PROCESSO TRABALHISTA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Em eventual ação movida por colaborador contra o cliente, adotamos as medidas cabíveis para excluí-lo já na primeira audiência.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INFRAESTRUTURA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Cabe ao cliente disponibilizar local para refeição, banheiro, água potável, vestiário e, na portaria, cadeira e ponto de trabalho.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96512"/>
            <a:ext cx="3483864" cy="1783080"/>
          </a:xfrm>
          <a:prstGeom prst="roundRect">
            <a:avLst>
              <a:gd name="adj" fmla="val 5500"/>
            </a:avLst>
          </a:prstGeom>
          <a:solidFill>
            <a:srgbClr val="191826">
              <a:alpha val="75000"/>
            </a:srgbClr>
          </a:solidFill>
          <a:ln w="12700">
            <a:solidFill>
              <a:srgbClr val="242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389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B79CFF"/>
                </a:solidFill>
                <a:latin typeface="Segoe UI"/>
              </a:rPr>
              <a:t>REAJUSTE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7731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EBF7"/>
                </a:solidFill>
                <a:latin typeface="Segoe UI"/>
              </a:rPr>
              <a:t>Os valores são reajustados conforme a convenção coletiva da categoria.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54496"/>
            <a:ext cx="10765231" cy="7315"/>
          </a:xfrm>
          <a:prstGeom prst="rect">
            <a:avLst/>
          </a:prstGeom>
          <a:solidFill>
            <a:srgbClr val="24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[SUA EMPRESA]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F6A8A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92463" y="731520"/>
            <a:ext cx="2286000" cy="822960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3631" y="731520"/>
            <a:ext cx="18836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SUA LOGO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B79CFF"/>
                </a:solidFill>
                <a:latin typeface="Segoe UI"/>
              </a:rPr>
              <a:t>OBRIGADO PELA OPORTUNIDADE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EEBF7"/>
                </a:solidFill>
                <a:latin typeface="Segoe UI"/>
              </a:rPr>
              <a:t>VAMOS TRABALHAR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B79CFF"/>
                </a:solidFill>
                <a:latin typeface="Segoe UI"/>
              </a:rPr>
              <a:t>JUNTOS?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320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977639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E99B8"/>
                </a:solidFill>
                <a:latin typeface="Segoe UI"/>
              </a:rPr>
              <a:t>Estamos à disposição para esclarecer qualquer ponto desta proposta.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572000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NOME DO CONSULTOR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8464" y="4572000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4572000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E-MAIL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285232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TELEFONE / WHATSAPP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5285232"/>
            <a:ext cx="5029200" cy="566928"/>
          </a:xfrm>
          <a:prstGeom prst="roundRect">
            <a:avLst>
              <a:gd name="adj" fmla="val 7000"/>
            </a:avLst>
          </a:prstGeom>
          <a:solidFill>
            <a:srgbClr val="191826">
              <a:alpha val="75000"/>
            </a:srgbClr>
          </a:solidFill>
          <a:ln w="15875">
            <a:solidFill>
              <a:srgbClr val="3934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5285232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A8A"/>
                </a:solidFill>
                <a:latin typeface="Segoe UI"/>
              </a:rPr>
              <a:t>[ SITE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