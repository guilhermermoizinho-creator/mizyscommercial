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SLIDE:missao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SLIDE:cliente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SLIDE:escopo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SLIDE:postos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SLIDE:equipamentos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SLIDE:beneficios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SLIDE:resumo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SLIDE:condicoes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Mizys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417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Facilities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Proposta Comercial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14630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Condomínio Edifício Horizonte Paulista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</a:rPr>
              <a:t>Rua Haddock Lobo, 1234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B82F6"/>
                </a:solidFill>
                <a:latin typeface="Segoe UI"/>
              </a:rPr>
              <a:t>DEMO-2026-0001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535" y="5669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</a:rPr>
              <a:t>São Paulo, 18 de agosto de 2026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Missão, visão e valores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MISSÃO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Cuidar de cada prédio como se fosse o nosso, para que quem trabalha nele só precise pensar no próprio trabalho.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Ser a operação de facilities mais confiável de São Paulo — a que o cliente não precisa fiscalizar.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463040"/>
            <a:ext cx="3529584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63040"/>
            <a:ext cx="54864" cy="4114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1" y="166420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VALORES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029968"/>
            <a:ext cx="29809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Gente antes de processo</a:t>
            </a:r>
            <a:br/>
            <a:r>
              <a:rPr sz="1300" b="0">
                <a:solidFill>
                  <a:srgbClr val="0F172A"/>
                </a:solidFill>
                <a:latin typeface="Segoe UI"/>
              </a:rPr>
              <a:t>O combinado não sai caro</a:t>
            </a:r>
            <a:br/>
            <a:r>
              <a:rPr sz="1300" b="0">
                <a:solidFill>
                  <a:srgbClr val="0F172A"/>
                </a:solidFill>
                <a:latin typeface="Segoe UI"/>
              </a:rPr>
              <a:t>Segurança não se negocia</a:t>
            </a:r>
            <a:br/>
            <a:r>
              <a:rPr sz="1300" b="0">
                <a:solidFill>
                  <a:srgbClr val="0F172A"/>
                </a:solidFill>
                <a:latin typeface="Segoe UI"/>
              </a:rPr>
              <a:t>Transparência na planilha</a:t>
            </a:r>
            <a:br/>
            <a:r>
              <a:rPr sz="1300" b="0">
                <a:solidFill>
                  <a:srgbClr val="0F172A"/>
                </a:solidFill>
                <a:latin typeface="Segoe UI"/>
              </a:rPr>
              <a:t>Melhoria sem alarde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A quem se destina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CONTRATANTE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Condomínio Edifício Horizonte Paulista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CNPJ 98.765.432/0001-10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Rua Haddock Lobo, 1234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São Paulo/SP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285232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66420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RESPONSÁVEL PELO CONTATO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029968"/>
            <a:ext cx="47365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Marina Vasconcelos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Síndica profissional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sindica@edificiohorizonte.com.br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(11) 98877-6655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48640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600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788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CONVENÇÃO COLETIVA APLICADA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544567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CCT SIEMACO-SP × SEAC-SP 2026/2027 — Asseio e conservação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SIEMACO-SP (laboral) × SEAC-SP (patronal) · MTE SP003552/2026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01/01/2026 a 31/12/2027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977639"/>
            <a:ext cx="5285232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977639"/>
            <a:ext cx="54864" cy="1600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4178807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EMITIDO POR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544567"/>
            <a:ext cx="47365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Mizys Facilities e Serviços Ltda.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CNPJ 12.345.678/0001-90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(11) 4002-8922 · comercial@mizysfacilities.com.br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Objeto da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500" b="0">
                <a:solidFill>
                  <a:srgbClr val="0F172A"/>
                </a:solidFill>
                <a:latin typeface="Segoe UI"/>
              </a:rPr>
              <a:t>Prestação de serviços de portaria 24 horas, limpeza e conservação das áreas comuns e vigilância patrimonial noturna no Edifício Horizonte Paulista, com fornecimento de mão de obra treinada e uniformizada, materiais, equipamentos e supervisão operacional em rota semanal.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INVESTIMENTO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R$ 70.691,34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PRAZO CONTRATUAL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24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4114800"/>
            <a:ext cx="352958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POSTOS DE 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4663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Dimensionamento da equipe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Os valores unitários já contemplam salário-base da convenção coletiva, adicionais legais, encargos sociais e trabalhistas (36,8%) e o pacote de benefícios da categoria.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609"/>
                <a:gridCol w="2884547"/>
                <a:gridCol w="2329827"/>
                <a:gridCol w="1996994"/>
                <a:gridCol w="1553218"/>
                <a:gridCol w="15532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QTD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CARGO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ESCALA / TURNO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ADICIONAIS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Porteiro / Controlador de acesso / Fiscal de piso</a:t>
                      </a:r>
                      <a:br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Recepção e controle de acesso da portaria social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12x36 Diurno · Diurno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R$ 12.368,93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R$ 12.368,93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Porteiro / Controlador de acesso / Fiscal de piso</a:t>
                      </a:r>
                      <a:br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Cobertura noturna com ronda interna a cada 2 horas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12x36 Noturno · Noturno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Noturno 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R$ 13.912,17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R$ 13.912,17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Piso mínimo da categoria</a:t>
                      </a:r>
                      <a:br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Áreas comuns, sanitários sociais e hall — insalubridade grau médio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5x2 Comercial · Comercial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I20 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R$ 5.991,89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R$ 17.975,66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Encarregado (responsável por 11 ou mais empregados)</a:t>
                      </a:r>
                      <a:br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Supervisão da equipe e interface com a administração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5x2 Comercial · Comercial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R$ 6.493,60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R$ 6.493,60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Vigilante</a:t>
                      </a:r>
                      <a:br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Vigilância patrimonial desarmada — guarita externa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12x36 Noturno · Noturno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P30 30% + Noturno 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R$ 18.523,20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R$ 18.523,20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DE MÃO DE OBRA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R$ 69.273,56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Equipamentos e recursos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Equipamentos mensais acompanham o valor do contrato; itens de implantação são cobrados uma única vez, na entrada da operação.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609"/>
                <a:gridCol w="2995492"/>
                <a:gridCol w="2440771"/>
                <a:gridCol w="1553218"/>
                <a:gridCol w="1664162"/>
                <a:gridCol w="1664162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QTD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EQUIPAMENTO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MARCA / MODELO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COBRANÇA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UNITÁRIO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TOTAL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Uniforme de asseio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2 conjuntos e agasalho — CCT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Mensal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R$ 111,27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R$ 667,61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EPI por função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NR-06 — fornecimento gratuito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Mensal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R$ 78,97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R$ 473,79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Uniforme de vigilante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Especificação da CCT, 2 conjuntos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Mensal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R$ 179,47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R$ 179,47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Reciclagem bienal de vigilante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Exigência da Lei 7.102/83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Mensal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R$ 96,91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R$ 96,91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MENSAL DE EQUIPAMENTOS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R$ 1.417,78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IMPLANTAÇÃO (PAGAMENTO ÚNICO)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R$ 0,00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Benefícios da convenção coletiva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Valores da CCT SIEMACO-SP × SEAC-SP 2026/2027 — Asseio e conservação. Benefícios concedidos na forma da convenção não sofrem encargo previdenciário (arts. 457 §2º e 458 §2º da CLT). O vale-transporte tem desconto legal de até 6% do salário do empregado.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1996994"/>
                <a:gridCol w="1775106"/>
                <a:gridCol w="1775106"/>
                <a:gridCol w="177510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BENEFÍCIO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 CHEIO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DESCONTO DO EMPREGADO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CUSTO DA EMPRESA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Vale-refeição · SIEMACO-SP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R$ 21,80 × 15,9 dias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R$ 347,33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R$ 23,26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R$ 324,07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Vale-transporte · SIEMACO-SP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R$ 10,40 × 15,9 dias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R$ 165,70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R$ 129,76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R$ 35,94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Cesta básica I (in natura) · SIEMACO-SP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 mês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R$ 151,91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R$ 151,91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Assistência médica e odontológica · SIEMACO-SP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 mês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R$ 37,09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R$ 37,09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Benefício Social Sindical · SIEMACO-SP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 mês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R$ 16,75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R$ 16,75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Vale-refeição · SESVESP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R$ 42,00 × 15,9 dias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R$ 669,16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R$ 120,45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R$ 548,71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Vale-transporte · SESVESP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R$ 10,40 × 15,9 dias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R$ 165,70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R$ 136,30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R$ 29,40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Cesta básica · SESVESP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por mês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R$ 208,45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R$ 10,42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R$ 198,03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TOTAL DE BENEFÍCIOS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R$ 1.341,90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Resumo do investimento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652"/>
                <a:gridCol w="2640787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COMPOSIÇÃO DO VALOR MENSAL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91440" marR="91440" marT="45720" marB="45720" anchor="ctr">
                    <a:solidFill>
                      <a:srgbClr val="1D4ED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Mão de obra (7 postos)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R$ 69.273,56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Equipamentos e recursos mensais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R$ 1.417,78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Subtotal mensal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R$ 70.691,34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Desconto comercial (0%)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− R$ 0,00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VALOR MENSAL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D4ED8"/>
                          </a:solidFill>
                          <a:latin typeface="Segoe UI"/>
                        </a:rPr>
                        <a:t>R$ 70.691,34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Todos os valores acima já incluem salários da convenção coletiva, adicionais legais, encargos sociais e trabalhistas, benefícios da categoria, tributos e despesas administrativas. Não há custo adicional fora do que está nesta tabela.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463040"/>
            <a:ext cx="3822191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463040"/>
            <a:ext cx="54864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664208"/>
            <a:ext cx="327355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IMPLANTAÇÃO (PAGAMENTO ÚNICO)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029968"/>
            <a:ext cx="3273551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R$ 0,00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017520"/>
            <a:ext cx="3822191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2918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TOTAL DO CONTRATO (24 MESES)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033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R$ 1.696.592,16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92040"/>
            <a:ext cx="382219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Primeiro pagamento: R$ 70.691,34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8229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Segoe UI"/>
              </a:rPr>
              <a:t>Condições comerciais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44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374903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374903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CONDIÇÕES GERAIS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937760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Validade da proposta: 30 dias, até 17/09/2026.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Prazo contratual: 24 meses, renovável automaticamente.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Faturamento: mensal, com vencimento no 5º dia útil do mês seguinte.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Reajuste: anual, pela data-base da categoria ou pelo IPCA acumulado.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Início da operação: até 15 dias corridos após o aceite formal.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Rescisão: mediante aviso prévio de 30 dias por qualquer das partes.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285232" cy="374903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" cy="374903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66420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OBSERVAÇÕES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029968"/>
            <a:ext cx="4736592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Materiais de limpeza inclusos. Reajuste por repactuação na data-base da categoria (1º de janeiro). Cobertura de férias e faltas por folguista da própria equipe, sem custo adicional ao condomínio.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Mizys Facilities · www.mizysfacilities.com.br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6455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DEMO-2026-0001 · página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Vamos trabalhar juntos?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383280"/>
            <a:ext cx="14630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Colocamo-nos à disposição para esclarecimentos e ajustes no escopo.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comercial@mizysfacilities.com.br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(11) 4002-8922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www.mizysfacilities.com.br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